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6" r:id="rId37"/>
    <p:sldId id="297" r:id="rId38"/>
    <p:sldId id="299" r:id="rId39"/>
    <p:sldId id="300" r:id="rId40"/>
    <p:sldId id="301" r:id="rId4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3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09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2619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979658" y="1683434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Искусственный интеллект: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это, откуда, и куда все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катится?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" y="0"/>
            <a:ext cx="5760720" cy="6858000"/>
          </a:xfrm>
          <a:prstGeom prst="roundRect">
            <a:avLst>
              <a:gd name="adj" fmla="val 1905"/>
            </a:avLst>
          </a:prstGeom>
          <a:solidFill>
            <a:srgbClr val="EFEFE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4864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вообще такое</a:t>
            </a:r>
            <a:endParaRPr lang="en-US" sz="3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Искусственный</a:t>
            </a:r>
            <a:endParaRPr lang="en-US" sz="3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Интеллект?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5797" y="775188"/>
            <a:ext cx="4629150" cy="5448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60720" cy="6858000"/>
          </a:xfrm>
          <a:prstGeom prst="roundRect">
            <a:avLst>
              <a:gd name="adj" fmla="val 1905"/>
            </a:avLst>
          </a:prstGeom>
          <a:solidFill>
            <a:srgbClr val="EFEFE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4864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вообще такое</a:t>
            </a:r>
            <a:endParaRPr lang="en-US" sz="3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Искусственный</a:t>
            </a:r>
            <a:endParaRPr lang="en-US" sz="3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Интеллект?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FBF7EC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3063240"/>
            <a:ext cx="1463040" cy="960120"/>
          </a:xfrm>
          <a:prstGeom prst="rect">
            <a:avLst/>
          </a:prstGeom>
          <a:solidFill>
            <a:srgbClr val="2A2A2A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4023360"/>
            <a:ext cx="365760" cy="2286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4251960"/>
            <a:ext cx="1005840" cy="91440"/>
          </a:xfrm>
          <a:prstGeom prst="rect">
            <a:avLst/>
          </a:prstGeom>
          <a:solidFill>
            <a:srgbClr val="777777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834640"/>
            <a:ext cx="2011680" cy="1737360"/>
          </a:xfrm>
          <a:prstGeom prst="line">
            <a:avLst/>
          </a:prstGeom>
          <a:noFill/>
          <a:ln w="50800">
            <a:solidFill>
              <a:srgbClr val="D34C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4572000"/>
            <a:ext cx="2011680" cy="0"/>
          </a:xfrm>
          <a:prstGeom prst="line">
            <a:avLst/>
          </a:prstGeom>
          <a:noFill/>
          <a:ln w="50800">
            <a:solidFill>
              <a:srgbClr val="D34C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80360" y="283464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FBF7EC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17520" y="292608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5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5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DECISION?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5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5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A / TASK B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5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5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880360" y="2834640"/>
            <a:ext cx="2011680" cy="1737360"/>
          </a:xfrm>
          <a:prstGeom prst="line">
            <a:avLst/>
          </a:prstGeom>
          <a:noFill/>
          <a:ln w="50800">
            <a:solidFill>
              <a:srgbClr val="D34C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80360" y="4572000"/>
            <a:ext cx="2011680" cy="0"/>
          </a:xfrm>
          <a:prstGeom prst="line">
            <a:avLst/>
          </a:prstGeom>
          <a:noFill/>
          <a:ln w="50800">
            <a:solidFill>
              <a:srgbClr val="D34C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27" name="Рисунок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704850"/>
            <a:ext cx="4629150" cy="5448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вообще такое</a:t>
            </a:r>
            <a:endParaRPr lang="en-US" sz="2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Искусственный</a:t>
            </a:r>
            <a:endParaRPr lang="en-US" sz="2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Интеллект?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первую очередь ИИ – это наука.</a:t>
            </a:r>
            <a:endParaRPr lang="en-US" sz="2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Она занимается исследованием и созданием систем, способных добиваться поставленных целей, для достижения которых не существует четкого алгоритма. Поэтому сейчас основным методом выступает обучение т. н. моделей – на каких-либо данных.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126480" y="731520"/>
            <a:ext cx="5852160" cy="5852160"/>
          </a:xfrm>
          <a:prstGeom prst="ellipse">
            <a:avLst/>
          </a:prstGeom>
          <a:solidFill>
            <a:srgbClr val="AED2E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0" y="1325880"/>
            <a:ext cx="4572000" cy="4572000"/>
          </a:xfrm>
          <a:prstGeom prst="ellipse">
            <a:avLst/>
          </a:prstGeom>
          <a:solidFill>
            <a:srgbClr val="B7DD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21880" y="2364105"/>
            <a:ext cx="3291840" cy="3291840"/>
          </a:xfrm>
          <a:prstGeom prst="ellipse">
            <a:avLst/>
          </a:prstGeom>
          <a:solidFill>
            <a:srgbClr val="F6E3A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3103245"/>
            <a:ext cx="2011680" cy="2011680"/>
          </a:xfrm>
          <a:prstGeom prst="ellipse">
            <a:avLst/>
          </a:prstGeom>
          <a:solidFill>
            <a:srgbClr val="D9CB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0" y="8001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223760" y="1828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223760" y="23774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223760" y="3017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любой задаче есть вход и выход: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4389120"/>
          </a:xfrm>
          <a:prstGeom prst="roundRect">
            <a:avLst>
              <a:gd name="adj" fmla="val 2500"/>
            </a:avLst>
          </a:prstGeom>
          <a:solidFill>
            <a:srgbClr val="F7F7F5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1920240"/>
            <a:ext cx="457200" cy="457200"/>
          </a:xfrm>
          <a:prstGeom prst="ellipse">
            <a:avLst/>
          </a:prstGeom>
          <a:solidFill>
            <a:srgbClr val="FFDD2D"/>
          </a:solidFill>
          <a:ln/>
        </p:spPr>
      </p:sp>
      <p:sp>
        <p:nvSpPr>
          <p:cNvPr id="5" name="Text 3"/>
          <p:cNvSpPr/>
          <p:nvPr/>
        </p:nvSpPr>
        <p:spPr>
          <a:xfrm>
            <a:off x="1691640" y="18745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2697480"/>
            <a:ext cx="457200" cy="457200"/>
          </a:xfrm>
          <a:prstGeom prst="ellipse">
            <a:avLst/>
          </a:prstGeom>
          <a:solidFill>
            <a:srgbClr val="FFDD2D"/>
          </a:solidFill>
          <a:ln/>
        </p:spPr>
      </p:sp>
      <p:sp>
        <p:nvSpPr>
          <p:cNvPr id="7" name="Text 5"/>
          <p:cNvSpPr/>
          <p:nvPr/>
        </p:nvSpPr>
        <p:spPr>
          <a:xfrm>
            <a:off x="1691640" y="26517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Картинки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5840" y="3474720"/>
            <a:ext cx="457200" cy="457200"/>
          </a:xfrm>
          <a:prstGeom prst="ellipse">
            <a:avLst/>
          </a:prstGeom>
          <a:solidFill>
            <a:srgbClr val="FFDD2D"/>
          </a:solidFill>
          <a:ln/>
        </p:spPr>
      </p:sp>
      <p:sp>
        <p:nvSpPr>
          <p:cNvPr id="9" name="Text 7"/>
          <p:cNvSpPr/>
          <p:nvPr/>
        </p:nvSpPr>
        <p:spPr>
          <a:xfrm>
            <a:off x="1691640" y="3429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Аудио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4251960"/>
            <a:ext cx="457200" cy="457200"/>
          </a:xfrm>
          <a:prstGeom prst="ellipse">
            <a:avLst/>
          </a:prstGeom>
          <a:solidFill>
            <a:srgbClr val="FFDD2D"/>
          </a:solidFill>
          <a:ln/>
        </p:spPr>
      </p:sp>
      <p:sp>
        <p:nvSpPr>
          <p:cNvPr id="11" name="Text 9"/>
          <p:cNvSpPr/>
          <p:nvPr/>
        </p:nvSpPr>
        <p:spPr>
          <a:xfrm>
            <a:off x="1691640" y="42062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12080" y="1920240"/>
            <a:ext cx="457200" cy="457200"/>
          </a:xfrm>
          <a:prstGeom prst="ellipse">
            <a:avLst/>
          </a:prstGeom>
          <a:solidFill>
            <a:srgbClr val="FFDD2D"/>
          </a:solidFill>
          <a:ln/>
        </p:spPr>
      </p:sp>
      <p:sp>
        <p:nvSpPr>
          <p:cNvPr id="13" name="Text 11"/>
          <p:cNvSpPr/>
          <p:nvPr/>
        </p:nvSpPr>
        <p:spPr>
          <a:xfrm>
            <a:off x="5897880" y="182880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со специальных датчиков – например, радаров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212080" y="2743200"/>
            <a:ext cx="457200" cy="457200"/>
          </a:xfrm>
          <a:prstGeom prst="ellipse">
            <a:avLst/>
          </a:prstGeom>
          <a:solidFill>
            <a:srgbClr val="FFDD2D"/>
          </a:solidFill>
          <a:ln/>
        </p:spPr>
      </p:sp>
      <p:sp>
        <p:nvSpPr>
          <p:cNvPr id="15" name="Text 13"/>
          <p:cNvSpPr/>
          <p:nvPr/>
        </p:nvSpPr>
        <p:spPr>
          <a:xfrm>
            <a:off x="5897880" y="2697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Временные ряды: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0" y="3383280"/>
            <a:ext cx="365760" cy="365760"/>
          </a:xfrm>
          <a:prstGeom prst="ellipse">
            <a:avLst/>
          </a:prstGeom>
          <a:solidFill>
            <a:srgbClr val="D9D9D6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33375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значения величины – например, цены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0" y="3977640"/>
            <a:ext cx="365760" cy="365760"/>
          </a:xfrm>
          <a:prstGeom prst="ellipse">
            <a:avLst/>
          </a:prstGeom>
          <a:solidFill>
            <a:srgbClr val="D9D9D6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39319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взаимодействия пользователя с сервисом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05840" y="5394960"/>
            <a:ext cx="457200" cy="457200"/>
          </a:xfrm>
          <a:prstGeom prst="ellipse">
            <a:avLst/>
          </a:prstGeom>
          <a:solidFill>
            <a:srgbClr val="1D1D1D"/>
          </a:solidFill>
          <a:ln/>
        </p:spPr>
      </p:sp>
      <p:sp>
        <p:nvSpPr>
          <p:cNvPr id="21" name="Text 19"/>
          <p:cNvSpPr/>
          <p:nvPr/>
        </p:nvSpPr>
        <p:spPr>
          <a:xfrm>
            <a:off x="1691640" y="530352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еще любая комбинация всего вышеперечисленного!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Любые данные можно</a:t>
            </a:r>
            <a:endParaRPr lang="en-US" sz="2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представить в виде чисел…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F7F7F5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23317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звук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194560" y="2194560"/>
            <a:ext cx="3017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40280" y="21945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0.03 -0.21 0.47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0.12 -0.08 -0.33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 24000 в секунду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49240" y="2551176"/>
            <a:ext cx="457200" cy="109728"/>
          </a:xfrm>
          <a:prstGeom prst="rightArrow">
            <a:avLst/>
          </a:prstGeom>
          <a:solidFill>
            <a:srgbClr val="F2552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520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194560" y="338328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0280" y="33832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«привет,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дела?»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51960" y="3739896"/>
            <a:ext cx="457200" cy="109728"/>
          </a:xfrm>
          <a:prstGeom prst="rightArrow">
            <a:avLst/>
          </a:prstGeom>
          <a:solidFill>
            <a:srgbClr val="1A1A1A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338328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33832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1043  812  47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номер слова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 словаре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78040" y="3739896"/>
            <a:ext cx="457200" cy="109728"/>
          </a:xfrm>
          <a:prstGeom prst="rightArrow">
            <a:avLst/>
          </a:prstGeom>
          <a:solidFill>
            <a:srgbClr val="F2552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7091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картинка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194560" y="4572000"/>
            <a:ext cx="3017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40280" y="45720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38 102 201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56 188 240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яркость пикселя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49240" y="4928616"/>
            <a:ext cx="457200" cy="109728"/>
          </a:xfrm>
          <a:prstGeom prst="rightArrow">
            <a:avLst/>
          </a:prstGeom>
          <a:solidFill>
            <a:srgbClr val="F2552C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0" y="2103120"/>
            <a:ext cx="2103120" cy="329184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0" y="2103120"/>
            <a:ext cx="2103120" cy="329184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F255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3108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5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числа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44000" y="3611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только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а значит любая задача, это просто функция: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 :  ℝⁿ → ℝᵐ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412" y="2194560"/>
            <a:ext cx="9667875" cy="40862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Строим модель: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322" y="1571625"/>
            <a:ext cx="1024705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Давайте искать нужные параметры!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525" y="1447800"/>
            <a:ext cx="8774906" cy="26193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Давайте искать нужные параметры!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680960" y="42062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25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потерь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1327724"/>
            <a:ext cx="8305800" cy="50730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Давайте искать нужные параметры!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863840" y="21945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мы работаем с числами – понадобятся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вычислительные устройства. И много…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58360"/>
            <a:ext cx="7343335" cy="44852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Немного истории…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3657600"/>
            <a:ext cx="10515600" cy="0"/>
          </a:xfrm>
          <a:prstGeom prst="line">
            <a:avLst/>
          </a:prstGeom>
          <a:noFill/>
          <a:ln w="25400">
            <a:solidFill>
              <a:srgbClr val="1D1D1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5400000">
            <a:off x="11247120" y="3566160"/>
            <a:ext cx="182880" cy="182880"/>
          </a:xfrm>
          <a:prstGeom prst="triangle">
            <a:avLst/>
          </a:prstGeom>
          <a:solidFill>
            <a:srgbClr val="1D1D1D"/>
          </a:solidFill>
          <a:ln/>
        </p:spPr>
      </p:sp>
      <p:sp>
        <p:nvSpPr>
          <p:cNvPr id="5" name="Shape 3"/>
          <p:cNvSpPr/>
          <p:nvPr/>
        </p:nvSpPr>
        <p:spPr>
          <a:xfrm>
            <a:off x="1133856" y="3602736"/>
            <a:ext cx="109728" cy="109728"/>
          </a:xfrm>
          <a:prstGeom prst="ellipse">
            <a:avLst/>
          </a:prstGeom>
          <a:solidFill>
            <a:srgbClr val="F2552C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3017520"/>
            <a:ext cx="0" cy="640080"/>
          </a:xfrm>
          <a:prstGeom prst="line">
            <a:avLst/>
          </a:prstGeom>
          <a:noFill/>
          <a:ln w="12700">
            <a:solidFill>
              <a:srgbClr val="F255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240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25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Лето 1956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" y="2606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Дартмутский семинар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79776" y="3602736"/>
            <a:ext cx="109728" cy="109728"/>
          </a:xfrm>
          <a:prstGeom prst="ellipse">
            <a:avLst/>
          </a:prstGeom>
          <a:solidFill>
            <a:srgbClr val="F2552C"/>
          </a:solidFill>
          <a:ln/>
        </p:spPr>
      </p:sp>
      <p:sp>
        <p:nvSpPr>
          <p:cNvPr id="10" name="Shape 8"/>
          <p:cNvSpPr/>
          <p:nvPr/>
        </p:nvSpPr>
        <p:spPr>
          <a:xfrm>
            <a:off x="2834640" y="3657600"/>
            <a:ext cx="0" cy="640080"/>
          </a:xfrm>
          <a:prstGeom prst="line">
            <a:avLst/>
          </a:prstGeom>
          <a:noFill/>
          <a:ln w="12700">
            <a:solidFill>
              <a:srgbClr val="F255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4343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25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1950-е — 60-е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828800" y="4709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нейросети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17136" y="3602736"/>
            <a:ext cx="109728" cy="109728"/>
          </a:xfrm>
          <a:prstGeom prst="ellipse">
            <a:avLst/>
          </a:prstGeom>
          <a:solidFill>
            <a:srgbClr val="F2552C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0" y="3017520"/>
            <a:ext cx="0" cy="640080"/>
          </a:xfrm>
          <a:prstGeom prst="line">
            <a:avLst/>
          </a:prstGeom>
          <a:noFill/>
          <a:ln w="12700">
            <a:solidFill>
              <a:srgbClr val="F255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2240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25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1970-е — 80-е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566160" y="2606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«зимы» ИИ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54496" y="3602736"/>
            <a:ext cx="109728" cy="109728"/>
          </a:xfrm>
          <a:prstGeom prst="ellipse">
            <a:avLst/>
          </a:prstGeom>
          <a:solidFill>
            <a:srgbClr val="F2552C"/>
          </a:solidFill>
          <a:ln/>
        </p:spPr>
      </p:sp>
      <p:sp>
        <p:nvSpPr>
          <p:cNvPr id="18" name="Shape 16"/>
          <p:cNvSpPr/>
          <p:nvPr/>
        </p:nvSpPr>
        <p:spPr>
          <a:xfrm>
            <a:off x="6309360" y="3657600"/>
            <a:ext cx="0" cy="640080"/>
          </a:xfrm>
          <a:prstGeom prst="line">
            <a:avLst/>
          </a:prstGeom>
          <a:noFill/>
          <a:ln w="12700">
            <a:solidFill>
              <a:srgbClr val="F255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4343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25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2000-е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303520" y="4709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данных и мощностей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74736" y="3602736"/>
            <a:ext cx="109728" cy="109728"/>
          </a:xfrm>
          <a:prstGeom prst="ellipse">
            <a:avLst/>
          </a:prstGeom>
          <a:solidFill>
            <a:srgbClr val="F2552C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0" y="3017520"/>
            <a:ext cx="0" cy="640080"/>
          </a:xfrm>
          <a:prstGeom prst="line">
            <a:avLst/>
          </a:prstGeom>
          <a:noFill/>
          <a:ln w="12700">
            <a:solidFill>
              <a:srgbClr val="F255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0" y="2240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25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2012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223760" y="2606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AlexNet, глубокое обучение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912096" y="3602736"/>
            <a:ext cx="109728" cy="109728"/>
          </a:xfrm>
          <a:prstGeom prst="ellipse">
            <a:avLst/>
          </a:prstGeom>
          <a:solidFill>
            <a:srgbClr val="F2552C"/>
          </a:solidFill>
          <a:ln/>
        </p:spPr>
      </p:sp>
      <p:sp>
        <p:nvSpPr>
          <p:cNvPr id="26" name="Shape 24"/>
          <p:cNvSpPr/>
          <p:nvPr/>
        </p:nvSpPr>
        <p:spPr>
          <a:xfrm>
            <a:off x="9966960" y="3657600"/>
            <a:ext cx="0" cy="640080"/>
          </a:xfrm>
          <a:prstGeom prst="line">
            <a:avLst/>
          </a:prstGeom>
          <a:noFill/>
          <a:ln w="12700">
            <a:solidFill>
              <a:srgbClr val="F255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52560" y="4343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25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2017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961120" y="4709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трансформеры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Немного истории…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502920" cy="502920"/>
          </a:xfrm>
          <a:prstGeom prst="ellipse">
            <a:avLst/>
          </a:prstGeom>
          <a:solidFill>
            <a:srgbClr val="1D1D1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00200" y="178308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 – Deep Blue обыгрывает чемпиона мира по шахматам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2834640"/>
            <a:ext cx="457200" cy="4572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8" name="Shape 6"/>
          <p:cNvSpPr/>
          <p:nvPr/>
        </p:nvSpPr>
        <p:spPr>
          <a:xfrm>
            <a:off x="1645920" y="2834640"/>
            <a:ext cx="457200" cy="4572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9" name="Shape 7"/>
          <p:cNvSpPr/>
          <p:nvPr/>
        </p:nvSpPr>
        <p:spPr>
          <a:xfrm>
            <a:off x="2103120" y="2834640"/>
            <a:ext cx="457200" cy="4572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10" name="Shape 8"/>
          <p:cNvSpPr/>
          <p:nvPr/>
        </p:nvSpPr>
        <p:spPr>
          <a:xfrm>
            <a:off x="2560320" y="2834640"/>
            <a:ext cx="457200" cy="4572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0" y="2834640"/>
            <a:ext cx="457200" cy="4572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0" y="2834640"/>
            <a:ext cx="457200" cy="4572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8720" y="3291840"/>
            <a:ext cx="457200" cy="4572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4" name="Shape 12"/>
          <p:cNvSpPr/>
          <p:nvPr/>
        </p:nvSpPr>
        <p:spPr>
          <a:xfrm>
            <a:off x="1645920" y="3291840"/>
            <a:ext cx="457200" cy="4572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15" name="Shape 13"/>
          <p:cNvSpPr/>
          <p:nvPr/>
        </p:nvSpPr>
        <p:spPr>
          <a:xfrm>
            <a:off x="2103120" y="3291840"/>
            <a:ext cx="457200" cy="4572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6" name="Shape 14"/>
          <p:cNvSpPr/>
          <p:nvPr/>
        </p:nvSpPr>
        <p:spPr>
          <a:xfrm>
            <a:off x="2560320" y="3291840"/>
            <a:ext cx="457200" cy="4572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17" name="Shape 15"/>
          <p:cNvSpPr/>
          <p:nvPr/>
        </p:nvSpPr>
        <p:spPr>
          <a:xfrm>
            <a:off x="3017520" y="3291840"/>
            <a:ext cx="457200" cy="4572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8" name="Shape 16"/>
          <p:cNvSpPr/>
          <p:nvPr/>
        </p:nvSpPr>
        <p:spPr>
          <a:xfrm>
            <a:off x="3474720" y="3291840"/>
            <a:ext cx="457200" cy="4572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19" name="Shape 17"/>
          <p:cNvSpPr/>
          <p:nvPr/>
        </p:nvSpPr>
        <p:spPr>
          <a:xfrm>
            <a:off x="1188720" y="3749040"/>
            <a:ext cx="457200" cy="4572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20" name="Shape 18"/>
          <p:cNvSpPr/>
          <p:nvPr/>
        </p:nvSpPr>
        <p:spPr>
          <a:xfrm>
            <a:off x="1645920" y="3749040"/>
            <a:ext cx="457200" cy="4572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1" name="Shape 19"/>
          <p:cNvSpPr/>
          <p:nvPr/>
        </p:nvSpPr>
        <p:spPr>
          <a:xfrm>
            <a:off x="2103120" y="3749040"/>
            <a:ext cx="457200" cy="4572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22" name="Shape 20"/>
          <p:cNvSpPr/>
          <p:nvPr/>
        </p:nvSpPr>
        <p:spPr>
          <a:xfrm>
            <a:off x="2560320" y="3749040"/>
            <a:ext cx="457200" cy="4572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3" name="Shape 21"/>
          <p:cNvSpPr/>
          <p:nvPr/>
        </p:nvSpPr>
        <p:spPr>
          <a:xfrm>
            <a:off x="3017520" y="3749040"/>
            <a:ext cx="457200" cy="4572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24" name="Shape 22"/>
          <p:cNvSpPr/>
          <p:nvPr/>
        </p:nvSpPr>
        <p:spPr>
          <a:xfrm>
            <a:off x="3474720" y="3749040"/>
            <a:ext cx="457200" cy="4572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5" name="Shape 23"/>
          <p:cNvSpPr/>
          <p:nvPr/>
        </p:nvSpPr>
        <p:spPr>
          <a:xfrm>
            <a:off x="1188720" y="4206240"/>
            <a:ext cx="457200" cy="4572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6" name="Shape 24"/>
          <p:cNvSpPr/>
          <p:nvPr/>
        </p:nvSpPr>
        <p:spPr>
          <a:xfrm>
            <a:off x="1645920" y="4206240"/>
            <a:ext cx="457200" cy="4572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27" name="Shape 25"/>
          <p:cNvSpPr/>
          <p:nvPr/>
        </p:nvSpPr>
        <p:spPr>
          <a:xfrm>
            <a:off x="2103120" y="4206240"/>
            <a:ext cx="457200" cy="4572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8" name="Shape 26"/>
          <p:cNvSpPr/>
          <p:nvPr/>
        </p:nvSpPr>
        <p:spPr>
          <a:xfrm>
            <a:off x="2560320" y="4206240"/>
            <a:ext cx="457200" cy="4572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29" name="Shape 27"/>
          <p:cNvSpPr/>
          <p:nvPr/>
        </p:nvSpPr>
        <p:spPr>
          <a:xfrm>
            <a:off x="3017520" y="4206240"/>
            <a:ext cx="457200" cy="4572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0" name="Shape 28"/>
          <p:cNvSpPr/>
          <p:nvPr/>
        </p:nvSpPr>
        <p:spPr>
          <a:xfrm>
            <a:off x="3474720" y="4206240"/>
            <a:ext cx="457200" cy="4572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1" name="Shape 29"/>
          <p:cNvSpPr/>
          <p:nvPr/>
        </p:nvSpPr>
        <p:spPr>
          <a:xfrm>
            <a:off x="1188720" y="4663440"/>
            <a:ext cx="457200" cy="4572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2" name="Shape 30"/>
          <p:cNvSpPr/>
          <p:nvPr/>
        </p:nvSpPr>
        <p:spPr>
          <a:xfrm>
            <a:off x="1645920" y="4663440"/>
            <a:ext cx="457200" cy="4572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3" name="Shape 31"/>
          <p:cNvSpPr/>
          <p:nvPr/>
        </p:nvSpPr>
        <p:spPr>
          <a:xfrm>
            <a:off x="2103120" y="4663440"/>
            <a:ext cx="457200" cy="4572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4" name="Shape 32"/>
          <p:cNvSpPr/>
          <p:nvPr/>
        </p:nvSpPr>
        <p:spPr>
          <a:xfrm>
            <a:off x="2560320" y="4663440"/>
            <a:ext cx="457200" cy="4572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5" name="Shape 33"/>
          <p:cNvSpPr/>
          <p:nvPr/>
        </p:nvSpPr>
        <p:spPr>
          <a:xfrm>
            <a:off x="3017520" y="4663440"/>
            <a:ext cx="457200" cy="4572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6" name="Shape 34"/>
          <p:cNvSpPr/>
          <p:nvPr/>
        </p:nvSpPr>
        <p:spPr>
          <a:xfrm>
            <a:off x="3474720" y="4663440"/>
            <a:ext cx="457200" cy="4572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7" name="Shape 35"/>
          <p:cNvSpPr/>
          <p:nvPr/>
        </p:nvSpPr>
        <p:spPr>
          <a:xfrm>
            <a:off x="1188720" y="5120640"/>
            <a:ext cx="457200" cy="4572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8" name="Shape 36"/>
          <p:cNvSpPr/>
          <p:nvPr/>
        </p:nvSpPr>
        <p:spPr>
          <a:xfrm>
            <a:off x="1645920" y="5120640"/>
            <a:ext cx="457200" cy="4572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9" name="Shape 37"/>
          <p:cNvSpPr/>
          <p:nvPr/>
        </p:nvSpPr>
        <p:spPr>
          <a:xfrm>
            <a:off x="2103120" y="5120640"/>
            <a:ext cx="457200" cy="4572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40" name="Shape 38"/>
          <p:cNvSpPr/>
          <p:nvPr/>
        </p:nvSpPr>
        <p:spPr>
          <a:xfrm>
            <a:off x="2560320" y="5120640"/>
            <a:ext cx="457200" cy="4572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41" name="Shape 39"/>
          <p:cNvSpPr/>
          <p:nvPr/>
        </p:nvSpPr>
        <p:spPr>
          <a:xfrm>
            <a:off x="3017520" y="5120640"/>
            <a:ext cx="457200" cy="4572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42" name="Shape 40"/>
          <p:cNvSpPr/>
          <p:nvPr/>
        </p:nvSpPr>
        <p:spPr>
          <a:xfrm>
            <a:off x="3474720" y="5120640"/>
            <a:ext cx="457200" cy="4572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44" name="Shape 42"/>
          <p:cNvSpPr/>
          <p:nvPr/>
        </p:nvSpPr>
        <p:spPr>
          <a:xfrm>
            <a:off x="6675120" y="1828800"/>
            <a:ext cx="502920" cy="502920"/>
          </a:xfrm>
          <a:prstGeom prst="ellipse">
            <a:avLst/>
          </a:prstGeom>
          <a:solidFill>
            <a:srgbClr val="1D1D1D"/>
          </a:solidFill>
          <a:ln/>
        </p:spPr>
      </p:sp>
      <p:sp>
        <p:nvSpPr>
          <p:cNvPr id="45" name="Text 43"/>
          <p:cNvSpPr/>
          <p:nvPr/>
        </p:nvSpPr>
        <p:spPr>
          <a:xfrm>
            <a:off x="66751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7360920" y="178308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– AlphaGo обыгрывает чемпиона мира по го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70" name="Рисунок 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87954"/>
            <a:ext cx="5635809" cy="3027046"/>
          </a:xfrm>
          <a:prstGeom prst="rect">
            <a:avLst/>
          </a:prstGeom>
        </p:spPr>
      </p:pic>
      <p:pic>
        <p:nvPicPr>
          <p:cNvPr id="71" name="Рисунок 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6879" y="2687954"/>
            <a:ext cx="5531936" cy="305847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Немного истории…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320040" cy="320040"/>
          </a:xfrm>
          <a:prstGeom prst="ellipse">
            <a:avLst/>
          </a:prstGeom>
          <a:solidFill>
            <a:srgbClr val="FFDD2D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6002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белка задаёт его функцию — что важно для разработки лекарств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320040" cy="320040"/>
          </a:xfrm>
          <a:prstGeom prst="ellipse">
            <a:avLst/>
          </a:prstGeom>
          <a:solidFill>
            <a:srgbClr val="FFDD2D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65176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AlphaFold: предсказывает структуру белка по его аминокислотной последовательности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840480"/>
            <a:ext cx="320040" cy="320040"/>
          </a:xfrm>
          <a:prstGeom prst="ellipse">
            <a:avLst/>
          </a:prstGeom>
          <a:solidFill>
            <a:srgbClr val="FFDD2D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70332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Нобелевская премия по химии 2024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415" y="1072038"/>
            <a:ext cx="5457195" cy="480536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77240" y="685800"/>
            <a:ext cx="10469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почему настолько </a:t>
            </a:r>
            <a:r>
              <a:rPr lang="en-US" sz="3200" b="1" dirty="0" smtClean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популярной</a:t>
            </a:r>
            <a:r>
              <a:rPr lang="ru-RU" sz="3200" dirty="0"/>
              <a:t> </a:t>
            </a:r>
            <a:r>
              <a:rPr lang="en-US" sz="3200" b="1" dirty="0" smtClean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сфера </a:t>
            </a:r>
            <a:r>
              <a:rPr lang="en-US" sz="32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стала именно </a:t>
            </a:r>
            <a:r>
              <a:rPr lang="en-US" sz="3200" b="1" dirty="0" smtClean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r>
              <a:rPr lang="ru-RU" sz="3200" dirty="0"/>
              <a:t> </a:t>
            </a:r>
            <a:r>
              <a:rPr lang="en-US" sz="3200" b="1" dirty="0" smtClean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последние </a:t>
            </a:r>
            <a:r>
              <a:rPr lang="en-US" sz="32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лет?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6775" y="1965960"/>
            <a:ext cx="1042606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Области исследований уже около 70 лет, но еще 5-10 лет назад об ИИ говорили сильно меньше, а модели решали довольно ограниченный круг задач.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EDEDED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2918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Появились мощные видеокарты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416052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AI-мощности растут с 2022 года в 3.3 раза в год, стоимость железа падает, растет энергоэффективность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97480" y="58978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337560" y="301752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EDEDED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66160" y="32918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Накопилось больше данных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66160" y="416052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Подходящих данных в Интернете стало в 100-300 раз больше к 2015 году относительно 2000.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0" y="58978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126480" y="301752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EDEDED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55080" y="32918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Появились новые архитектуры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55080" y="416052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– то, как именно устроена модель. С 2012 по 2017 появилось несколько очень удачных.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75320" y="58978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8915400" y="301752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EDEDED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0" y="32918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Появились ИИ-фреймворки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144000" y="416052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удобные инструменты для разработки и обучения модели, которые ускорили создание новых моделей.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064240" y="58978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203215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сейчас все говорят про ИИ?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39" y="1005840"/>
            <a:ext cx="892519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 population adoption за три года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34709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еще 3 признака great tech: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39" y="2194560"/>
            <a:ext cx="297507" cy="274320"/>
          </a:xfrm>
          <a:prstGeom prst="ellipse">
            <a:avLst/>
          </a:prstGeom>
          <a:solidFill>
            <a:srgbClr val="FFDD2D"/>
          </a:solidFill>
          <a:ln/>
        </p:spPr>
      </p:sp>
      <p:sp>
        <p:nvSpPr>
          <p:cNvPr id="6" name="Text 4"/>
          <p:cNvSpPr/>
          <p:nvPr/>
        </p:nvSpPr>
        <p:spPr>
          <a:xfrm>
            <a:off x="960119" y="2057400"/>
            <a:ext cx="2875897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Инвестиции (сотни млрд $ в год)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39" y="3246120"/>
            <a:ext cx="297507" cy="274320"/>
          </a:xfrm>
          <a:prstGeom prst="ellipse">
            <a:avLst/>
          </a:prstGeom>
          <a:solidFill>
            <a:srgbClr val="FFDD2D"/>
          </a:solidFill>
          <a:ln/>
        </p:spPr>
      </p:sp>
      <p:sp>
        <p:nvSpPr>
          <p:cNvPr id="8" name="Text 6"/>
          <p:cNvSpPr/>
          <p:nvPr/>
        </p:nvSpPr>
        <p:spPr>
          <a:xfrm>
            <a:off x="960119" y="3108960"/>
            <a:ext cx="2875897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Инфраструктура (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smtClean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</a:t>
            </a:r>
            <a:r>
              <a:rPr lang="ru-RU" dirty="0" smtClean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 smtClean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трлн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cap)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8639" y="4297680"/>
            <a:ext cx="297507" cy="274320"/>
          </a:xfrm>
          <a:prstGeom prst="ellipse">
            <a:avLst/>
          </a:prstGeom>
          <a:solidFill>
            <a:srgbClr val="FFDD2D"/>
          </a:solidFill>
          <a:ln/>
        </p:spPr>
      </p:sp>
      <p:sp>
        <p:nvSpPr>
          <p:cNvPr id="10" name="Text 8"/>
          <p:cNvSpPr/>
          <p:nvPr/>
        </p:nvSpPr>
        <p:spPr>
          <a:xfrm>
            <a:off x="960119" y="4160520"/>
            <a:ext cx="2875897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Использование (88% организаций используют ИИ хотя бы в одной бизнес-функции)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1551615" y="6400800"/>
            <a:ext cx="4958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400" dirty="0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1068" y="1523047"/>
            <a:ext cx="7629525" cy="40862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еще потому что LLM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1" y="1290637"/>
            <a:ext cx="9186862" cy="520164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задача языкового моделирования: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pic>
        <p:nvPicPr>
          <p:cNvPr id="30" name="Рисунок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74" y="1495424"/>
            <a:ext cx="11579701" cy="38385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задача языкового моделирования: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1000124"/>
            <a:ext cx="9595485" cy="521633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промптинг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92" y="1371600"/>
            <a:ext cx="10897363" cy="370998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485" y="22860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промптинг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04" y="1157287"/>
            <a:ext cx="9598046" cy="542448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1505" y="3200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Мультимодальные LLM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pic>
        <p:nvPicPr>
          <p:cNvPr id="41" name="Рисунок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675" y="1176337"/>
            <a:ext cx="8224837" cy="554971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Мультимодальные LLM</a:t>
            </a:r>
            <a:endParaRPr lang="en-US" sz="2800" dirty="0"/>
          </a:p>
        </p:txBody>
      </p:sp>
      <p:pic>
        <p:nvPicPr>
          <p:cNvPr id="44" name="Рисунок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822960"/>
            <a:ext cx="8767762" cy="582507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Chain of Thought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887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«Поезд идёт 60 км/ч.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Сколько километров он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пройдёт за 1 час 15 минут?»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54680" y="1728216"/>
            <a:ext cx="411480" cy="109728"/>
          </a:xfrm>
          <a:prstGeom prst="rightArrow">
            <a:avLst/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3703320" y="118872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0" y="11887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модель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303520" y="1728216"/>
            <a:ext cx="411480" cy="109728"/>
          </a:xfrm>
          <a:prstGeom prst="rightArrow">
            <a:avLst/>
          </a:prstGeom>
          <a:solidFill>
            <a:srgbClr val="1A1A1A"/>
          </a:solidFill>
          <a:ln/>
        </p:spPr>
      </p:sp>
      <p:sp>
        <p:nvSpPr>
          <p:cNvPr id="9" name="Shape 7"/>
          <p:cNvSpPr/>
          <p:nvPr/>
        </p:nvSpPr>
        <p:spPr>
          <a:xfrm>
            <a:off x="5852160" y="118872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FDEDEA"/>
          </a:solidFill>
          <a:ln w="12700">
            <a:solidFill>
              <a:srgbClr val="F255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97880" y="11887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255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«60 км»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852160" y="2468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отвечает сразу — на всё решение один проход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7490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«Поезд идёт 60 км/ч.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Сколько километров он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пройдёт за 1 час 15 минут?»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154680" y="4288536"/>
            <a:ext cx="411480" cy="109728"/>
          </a:xfrm>
          <a:prstGeom prst="rightArrow">
            <a:avLst/>
          </a:prstGeom>
          <a:solidFill>
            <a:srgbClr val="1A1A1A"/>
          </a:solidFill>
          <a:ln/>
        </p:spPr>
      </p:sp>
      <p:sp>
        <p:nvSpPr>
          <p:cNvPr id="15" name="Shape 13"/>
          <p:cNvSpPr/>
          <p:nvPr/>
        </p:nvSpPr>
        <p:spPr>
          <a:xfrm>
            <a:off x="3703320" y="374904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37490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модель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303520" y="4288536"/>
            <a:ext cx="411480" cy="109728"/>
          </a:xfrm>
          <a:prstGeom prst="rightArrow">
            <a:avLst/>
          </a:prstGeom>
          <a:solidFill>
            <a:srgbClr val="1A1A1A"/>
          </a:solidFill>
          <a:ln/>
        </p:spPr>
      </p:sp>
      <p:sp>
        <p:nvSpPr>
          <p:cNvPr id="18" name="Shape 16"/>
          <p:cNvSpPr/>
          <p:nvPr/>
        </p:nvSpPr>
        <p:spPr>
          <a:xfrm>
            <a:off x="5852160" y="352044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EAF6E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5040" y="370332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F9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час 15 минут — это 75 минут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F9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км/ч — это 1 км в минуту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F9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минут × 1 км = 75 км  →  «75 км»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852160" y="54864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пишет шаги решения — каждый шаг опирается на уже написанные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1264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не стала умнее — ей просто дали место подумать вслух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обучение с подкреплением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237744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3774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«Сколько будет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494 × 25?»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с проверяемым ответом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готового примера решения нет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63240" y="2871216"/>
            <a:ext cx="457200" cy="109728"/>
          </a:xfrm>
          <a:prstGeom prst="rightArrow">
            <a:avLst/>
          </a:prstGeom>
          <a:solidFill>
            <a:srgbClr val="1A1A1A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0" y="237744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23774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модель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0" y="11887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пробует много раз по-разному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0" y="1600200"/>
            <a:ext cx="3749040" cy="685800"/>
          </a:xfrm>
          <a:prstGeom prst="roundRect">
            <a:avLst>
              <a:gd name="adj" fmla="val 10667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16002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B5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посчитала в уме: 12 100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372600" y="160020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C4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5486400" y="2514600"/>
            <a:ext cx="3749040" cy="685800"/>
          </a:xfrm>
          <a:prstGeom prst="roundRect">
            <a:avLst>
              <a:gd name="adj" fmla="val 10667"/>
            </a:avLst>
          </a:prstGeom>
          <a:solidFill>
            <a:srgbClr val="EAF6EF"/>
          </a:solidFill>
          <a:ln w="12700">
            <a:solidFill>
              <a:srgbClr val="1F9D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25146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F9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вызвала калькулятор: 12 350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372600" y="251460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9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5486400" y="3429000"/>
            <a:ext cx="3749040" cy="685800"/>
          </a:xfrm>
          <a:prstGeom prst="roundRect">
            <a:avLst>
              <a:gd name="adj" fmla="val 10667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32120" y="34290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B5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полезла в поиск: не нашла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372600" y="342900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C4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5486400" y="4343400"/>
            <a:ext cx="3749040" cy="685800"/>
          </a:xfrm>
          <a:prstGeom prst="roundRect">
            <a:avLst>
              <a:gd name="adj" fmla="val 10667"/>
            </a:avLst>
          </a:prstGeom>
          <a:solidFill>
            <a:srgbClr val="EAF6EF"/>
          </a:solidFill>
          <a:ln w="12700">
            <a:solidFill>
              <a:srgbClr val="1F9D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43434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F9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вызвала калькулятор: 12 350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372600" y="434340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9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875520" y="21945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сверяем машиной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обучение с подкреплением (RL)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237744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3774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«Сколько будет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494 × 25?»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с проверяемым ответом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готового примера решения нет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63240" y="2871216"/>
            <a:ext cx="457200" cy="109728"/>
          </a:xfrm>
          <a:prstGeom prst="rightArrow">
            <a:avLst/>
          </a:prstGeom>
          <a:solidFill>
            <a:srgbClr val="1A1A1A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0" y="237744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23774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модель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0" y="11887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пробует много раз по-разному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0" y="1600200"/>
            <a:ext cx="3749040" cy="685800"/>
          </a:xfrm>
          <a:prstGeom prst="roundRect">
            <a:avLst>
              <a:gd name="adj" fmla="val 10667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16002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B5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посчитала в уме: 12 100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372600" y="160020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C4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5486400" y="2514600"/>
            <a:ext cx="3749040" cy="685800"/>
          </a:xfrm>
          <a:prstGeom prst="roundRect">
            <a:avLst>
              <a:gd name="adj" fmla="val 10667"/>
            </a:avLst>
          </a:prstGeom>
          <a:solidFill>
            <a:srgbClr val="EAF6EF"/>
          </a:solidFill>
          <a:ln w="12700">
            <a:solidFill>
              <a:srgbClr val="1F9D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25146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F9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вызвала калькулятор: 12 350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372600" y="251460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9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5486400" y="3429000"/>
            <a:ext cx="3749040" cy="685800"/>
          </a:xfrm>
          <a:prstGeom prst="roundRect">
            <a:avLst>
              <a:gd name="adj" fmla="val 10667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32120" y="34290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B5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полезла в поиск: не нашла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372600" y="342900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C4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5486400" y="4343400"/>
            <a:ext cx="3749040" cy="685800"/>
          </a:xfrm>
          <a:prstGeom prst="roundRect">
            <a:avLst>
              <a:gd name="adj" fmla="val 10667"/>
            </a:avLst>
          </a:prstGeom>
          <a:solidFill>
            <a:srgbClr val="EAF6EF"/>
          </a:solidFill>
          <a:ln w="12700">
            <a:solidFill>
              <a:srgbClr val="1F9D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43434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F9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вызвала калькулятор: 12 350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372600" y="434340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9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875520" y="21945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сверяем машиной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34840" y="4206240"/>
            <a:ext cx="0" cy="0"/>
          </a:xfrm>
          <a:prstGeom prst="bentConnector3">
            <a:avLst/>
          </a:prstGeom>
          <a:noFill/>
          <a:ln w="19050">
            <a:solidFill>
              <a:srgbClr val="1F9D6D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2743200" y="52120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F9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то, что сработало, делаем вероятнее,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i="1" dirty="0">
                <a:solidFill>
                  <a:srgbClr val="1F9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остальное — реже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" y="61264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учится не на образце человека, а на собственных удачных попытках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Reasoning</a:t>
            </a:r>
            <a:endParaRPr lang="en-US" sz="2800" dirty="0"/>
          </a:p>
        </p:txBody>
      </p:sp>
      <p:sp>
        <p:nvSpPr>
          <p:cNvPr id="9" name="Text 4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37" y="1281112"/>
            <a:ext cx="10220325" cy="42957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вызов инструментов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274320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27432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«Сколько сейчас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стоит доллар?»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человека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29000" y="3191256"/>
            <a:ext cx="502920" cy="109728"/>
          </a:xfrm>
          <a:prstGeom prst="rightArrow">
            <a:avLst/>
          </a:prstGeom>
          <a:solidFill>
            <a:srgbClr val="1A1A1A"/>
          </a:solidFill>
          <a:ln/>
        </p:spPr>
      </p:sp>
      <p:sp>
        <p:nvSpPr>
          <p:cNvPr id="7" name="Shape 5"/>
          <p:cNvSpPr/>
          <p:nvPr/>
        </p:nvSpPr>
        <p:spPr>
          <a:xfrm>
            <a:off x="4069080" y="274320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0" y="27432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модель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760720" y="3191256"/>
            <a:ext cx="502920" cy="109728"/>
          </a:xfrm>
          <a:prstGeom prst="rightArrow">
            <a:avLst/>
          </a:prstGeom>
          <a:solidFill>
            <a:srgbClr val="1A1A1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74320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DEDEA"/>
          </a:solidFill>
          <a:ln w="12700">
            <a:solidFill>
              <a:srgbClr val="F255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74320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255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поиск(«курс доллара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F255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на сегодня»)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00800" y="2331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25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пишет не ответ, а вызов инструмента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3840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всё еще просто текст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вызов инструментов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88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«Сколько сейчас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стоит доллар?»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651760" y="1591056"/>
            <a:ext cx="365760" cy="109728"/>
          </a:xfrm>
          <a:prstGeom prst="rightArrow">
            <a:avLst/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3108960" y="118872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54680" y="118872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модель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480560" y="1591056"/>
            <a:ext cx="365760" cy="109728"/>
          </a:xfrm>
          <a:prstGeom prst="rightArrow">
            <a:avLst/>
          </a:prstGeom>
          <a:solidFill>
            <a:srgbClr val="1A1A1A"/>
          </a:solidFill>
          <a:ln/>
        </p:spPr>
      </p:sp>
      <p:sp>
        <p:nvSpPr>
          <p:cNvPr id="9" name="Shape 7"/>
          <p:cNvSpPr/>
          <p:nvPr/>
        </p:nvSpPr>
        <p:spPr>
          <a:xfrm>
            <a:off x="4937760" y="118872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DEDEA"/>
          </a:solidFill>
          <a:ln w="12700">
            <a:solidFill>
              <a:srgbClr val="F255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1887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55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поиск(«курс доллара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255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на сегодня»)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09360" y="2148840"/>
            <a:ext cx="0" cy="548640"/>
          </a:xfrm>
          <a:prstGeom prst="bentConnector3">
            <a:avLst/>
          </a:prstGeom>
          <a:noFill/>
          <a:ln w="19050">
            <a:solidFill>
              <a:srgbClr val="5B5B5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212080" y="27432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E9EEFC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57800" y="2743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программа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ходит в интернет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80960" y="26517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бывают: поиск в интернете,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калькулятор, запуск кода, почта, календарь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212080" y="3200400"/>
            <a:ext cx="0" cy="365760"/>
          </a:xfrm>
          <a:prstGeom prst="bentConnector3">
            <a:avLst/>
          </a:prstGeom>
          <a:noFill/>
          <a:ln w="19050">
            <a:solidFill>
              <a:srgbClr val="1F9D6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103120" y="338328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EAF6EF"/>
          </a:solidFill>
          <a:ln w="12700">
            <a:solidFill>
              <a:srgbClr val="1F9D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48840" y="33832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F9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«курс: 78 рублей»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48640" y="28803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дописывается в ту же цепочку текста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08960" y="4297680"/>
            <a:ext cx="0" cy="548640"/>
          </a:xfrm>
          <a:prstGeom prst="bentConnector3">
            <a:avLst/>
          </a:prstGeom>
          <a:noFill/>
          <a:ln w="19050">
            <a:solidFill>
              <a:srgbClr val="1F9D6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828800" y="4937760"/>
            <a:ext cx="4572000" cy="914400"/>
          </a:xfrm>
          <a:prstGeom prst="roundRect">
            <a:avLst>
              <a:gd name="adj" fmla="val 12000"/>
            </a:avLst>
          </a:prstGeom>
          <a:solidFill>
            <a:srgbClr val="EAF6E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828800" y="49377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1F9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«Сейчас доллар стоит 78 рублей»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828800" y="5897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продолжает текст уже со свежими данными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Агентность LLM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и вызов инструментов сильно улучшились с помощью RL</a:t>
            </a:r>
            <a:endParaRPr lang="en-US" sz="2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это в свою очередь вырастило автономность моделей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0" y="685800"/>
            <a:ext cx="7239000" cy="501015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Autoresearch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371600" y="146304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146304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агент придумывает,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что попробовать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675120" y="146304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20840" y="146304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обучает маленькую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модель с этой правкой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675120" y="429768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20840" y="429768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замеряет ошибку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на проверочных данных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1371600" y="429768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EAF6EF"/>
          </a:solidFill>
          <a:ln w="12700">
            <a:solidFill>
              <a:srgbClr val="1F9D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429768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F9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стало лучше?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F9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да — оставил, нет — откатил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257800" y="2048256"/>
            <a:ext cx="1371600" cy="109728"/>
          </a:xfrm>
          <a:prstGeom prst="rightArrow">
            <a:avLst/>
          </a:prstGeom>
          <a:solidFill>
            <a:srgbClr val="1A1A1A"/>
          </a:solidFill>
          <a:ln/>
        </p:spPr>
      </p:sp>
      <p:sp>
        <p:nvSpPr>
          <p:cNvPr id="12" name="Shape 10"/>
          <p:cNvSpPr/>
          <p:nvPr/>
        </p:nvSpPr>
        <p:spPr>
          <a:xfrm>
            <a:off x="8412480" y="2788920"/>
            <a:ext cx="274320" cy="1417320"/>
          </a:xfrm>
          <a:prstGeom prst="downArrow">
            <a:avLst/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5257800" y="4892040"/>
            <a:ext cx="1371600" cy="274320"/>
          </a:xfrm>
          <a:prstGeom prst="leftArrow">
            <a:avLst/>
          </a:prstGeom>
          <a:solidFill>
            <a:srgbClr val="1F9D6D"/>
          </a:solidFill>
          <a:ln/>
        </p:spPr>
      </p:sp>
      <p:sp>
        <p:nvSpPr>
          <p:cNvPr id="14" name="Shape 12"/>
          <p:cNvSpPr/>
          <p:nvPr/>
        </p:nvSpPr>
        <p:spPr>
          <a:xfrm>
            <a:off x="3063240" y="2788920"/>
            <a:ext cx="274320" cy="1417320"/>
          </a:xfrm>
          <a:prstGeom prst="upArrow">
            <a:avLst/>
          </a:prstGeom>
          <a:solidFill>
            <a:srgbClr val="1F9D6D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288036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F25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так круг за кругом</a:t>
            </a:r>
            <a:endParaRPr lang="en-US" dirty="0"/>
          </a:p>
          <a:p>
            <a:pPr marL="0" indent="0" algn="ctr">
              <a:buNone/>
            </a:pPr>
            <a:r>
              <a:rPr lang="en-US" i="1" dirty="0">
                <a:solidFill>
                  <a:srgbClr val="F25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всю ночь, без человека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 задаёт только цель: «сделай ошибку меньше»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Autoresearch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9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агент придумал и оставил: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6400800" y="1554480"/>
            <a:ext cx="320040" cy="320040"/>
          </a:xfrm>
          <a:prstGeom prst="ellipse">
            <a:avLst/>
          </a:prstGeom>
          <a:solidFill>
            <a:srgbClr val="1F9D6D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858000" y="148132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взяли обычную модель как точку отсчёта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0" y="2084832"/>
            <a:ext cx="320040" cy="320040"/>
          </a:xfrm>
          <a:prstGeom prst="ellipse">
            <a:avLst/>
          </a:prstGeom>
          <a:solidFill>
            <a:srgbClr val="1F9D6D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0" y="20848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858000" y="2011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учить дольше: больше шагов обучения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0" y="2615184"/>
            <a:ext cx="320040" cy="320040"/>
          </a:xfrm>
          <a:prstGeom prst="ellipse">
            <a:avLst/>
          </a:prstGeom>
          <a:solidFill>
            <a:srgbClr val="1F9D6D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0" y="26151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858000" y="254203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плавный разогрев в начале обучения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400800" y="3145536"/>
            <a:ext cx="320040" cy="320040"/>
          </a:xfrm>
          <a:prstGeom prst="ellipse">
            <a:avLst/>
          </a:prstGeom>
          <a:solidFill>
            <a:srgbClr val="1F9D6D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0" y="31455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858000" y="307238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сделать сеть глубже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400800" y="3675888"/>
            <a:ext cx="320040" cy="320040"/>
          </a:xfrm>
          <a:prstGeom prst="ellipse">
            <a:avLst/>
          </a:prstGeom>
          <a:solidFill>
            <a:srgbClr val="1F9D6D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0" y="3675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858000" y="360273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другой рисунок внимания в слоях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400800" y="4206240"/>
            <a:ext cx="320040" cy="320040"/>
          </a:xfrm>
          <a:prstGeom prst="ellipse">
            <a:avLst/>
          </a:prstGeom>
          <a:solidFill>
            <a:srgbClr val="1F9D6D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0" y="4206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858000" y="41330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короче окно контекста, но чаще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400800" y="4736592"/>
            <a:ext cx="320040" cy="320040"/>
          </a:xfrm>
          <a:prstGeom prst="ellipse">
            <a:avLst/>
          </a:prstGeom>
          <a:solidFill>
            <a:srgbClr val="1F9D6D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0" y="47365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858000" y="46634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поменять кодировку позиций слов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400800" y="5266944"/>
            <a:ext cx="320040" cy="320040"/>
          </a:xfrm>
          <a:prstGeom prst="ellipse">
            <a:avLst/>
          </a:prstGeom>
          <a:solidFill>
            <a:srgbClr val="1F9D6D"/>
          </a:solidFill>
          <a:ln/>
        </p:spPr>
      </p:sp>
      <p:sp>
        <p:nvSpPr>
          <p:cNvPr id="27" name="Text 24"/>
          <p:cNvSpPr/>
          <p:nvPr/>
        </p:nvSpPr>
        <p:spPr>
          <a:xfrm>
            <a:off x="6400800" y="52669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858000" y="519379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другой случайный старт весов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попытки за ночь, 8 удачных — человек не участвовал ни в одной</a:t>
            </a: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11247120" y="64648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200" dirty="0"/>
          </a:p>
        </p:txBody>
      </p:sp>
      <p:pic>
        <p:nvPicPr>
          <p:cNvPr id="31" name="Рисунок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1334261"/>
            <a:ext cx="4972693" cy="471411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на международной олимпиаде по математике: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9659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AlphaProof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 AlphaGeometry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особая система под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доказательства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из 42 баллов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85800" y="4114800"/>
            <a:ext cx="3291840" cy="320040"/>
          </a:xfrm>
          <a:prstGeom prst="rect">
            <a:avLst/>
          </a:prstGeom>
          <a:solidFill>
            <a:srgbClr val="E6E6E3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4114800"/>
            <a:ext cx="2194560" cy="320040"/>
          </a:xfrm>
          <a:prstGeom prst="rect">
            <a:avLst/>
          </a:prstGeom>
          <a:solidFill>
            <a:srgbClr val="9AA0A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572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задачи из 6 — серебро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48640" y="50749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 переводил человек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доказательство — 2-3 дня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43400" y="14173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343400" y="196596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19659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 Deep Think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 модель OpenAI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343400" y="30632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закрытые внутренние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модели, наружу не выдавали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43400" y="3657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из 42 баллов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480560" y="4114800"/>
            <a:ext cx="3291840" cy="320040"/>
          </a:xfrm>
          <a:prstGeom prst="rect">
            <a:avLst/>
          </a:prstGeom>
          <a:solidFill>
            <a:srgbClr val="E6E6E3"/>
          </a:solidFill>
          <a:ln/>
        </p:spPr>
      </p:sp>
      <p:sp>
        <p:nvSpPr>
          <p:cNvPr id="18" name="Shape 16"/>
          <p:cNvSpPr/>
          <p:nvPr/>
        </p:nvSpPr>
        <p:spPr>
          <a:xfrm>
            <a:off x="4480560" y="4114800"/>
            <a:ext cx="2743200" cy="320040"/>
          </a:xfrm>
          <a:prstGeom prst="rect">
            <a:avLst/>
          </a:prstGeom>
          <a:solidFill>
            <a:srgbClr val="1F9D6D"/>
          </a:solidFill>
          <a:ln/>
        </p:spPr>
      </p:sp>
      <p:sp>
        <p:nvSpPr>
          <p:cNvPr id="19" name="Text 17"/>
          <p:cNvSpPr/>
          <p:nvPr/>
        </p:nvSpPr>
        <p:spPr>
          <a:xfrm>
            <a:off x="4343400" y="4572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задач из 6 — золото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343400" y="50749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обычная модель, как для текста: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читала условия словами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38160" y="14173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3200" dirty="0"/>
          </a:p>
        </p:txBody>
      </p:sp>
      <p:sp>
        <p:nvSpPr>
          <p:cNvPr id="22" name="Shape 20"/>
          <p:cNvSpPr/>
          <p:nvPr/>
        </p:nvSpPr>
        <p:spPr>
          <a:xfrm>
            <a:off x="8138160" y="196596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19659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несколько frontier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моделей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138160" y="30632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лучшие из доступных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любому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138160" y="3657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из 42 баллов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8275320" y="4114800"/>
            <a:ext cx="3291840" cy="320040"/>
          </a:xfrm>
          <a:prstGeom prst="rect">
            <a:avLst/>
          </a:prstGeom>
          <a:solidFill>
            <a:srgbClr val="E6E6E3"/>
          </a:solidFill>
          <a:ln/>
        </p:spPr>
      </p:sp>
      <p:sp>
        <p:nvSpPr>
          <p:cNvPr id="27" name="Shape 25"/>
          <p:cNvSpPr/>
          <p:nvPr/>
        </p:nvSpPr>
        <p:spPr>
          <a:xfrm>
            <a:off x="8275320" y="4114800"/>
            <a:ext cx="3291840" cy="320040"/>
          </a:xfrm>
          <a:prstGeom prst="rect">
            <a:avLst/>
          </a:prstGeom>
          <a:solidFill>
            <a:srgbClr val="F2552C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4572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6 задач — полный балл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138160" y="50749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олимпиада больше не различает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 — нужен экзамен потруднее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открытые проблемы математики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Эрдеша: 1217 разнообразных задач, предложенных венгерским математиком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3350" y="1228725"/>
            <a:ext cx="6991350" cy="470535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открытые проблемы математики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1200149"/>
            <a:ext cx="9024186" cy="4029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открытые проблемы математики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076325"/>
            <a:ext cx="10477500" cy="470535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1985" y="379095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что же дальше? Какие подводные?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237744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37744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7,6 трлн $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931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столько собираются вложить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ИИ за 2026–2031 годы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чипы, дата-центры, электростанции,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сети, охлаждение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2779776"/>
            <a:ext cx="548640" cy="109728"/>
          </a:xfrm>
          <a:prstGeom prst="rightArrow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0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ИИ слабее обещаний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114800" y="196596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19659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выручка и польза оказались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меньше, чем ждали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543800" y="2368296"/>
            <a:ext cx="365760" cy="109728"/>
          </a:xfrm>
          <a:prstGeom prst="rightArrow">
            <a:avLst/>
          </a:prstGeom>
          <a:solidFill>
            <a:srgbClr val="1A1A1A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0" y="196596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8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19659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мощности лишние, вложения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списывают — удар по экономике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046720" y="1600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пузырь лопается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114800" y="3246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F25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ИИ сильнее обещаний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114800" y="365760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DEDEA"/>
          </a:solidFill>
          <a:ln w="12700">
            <a:solidFill>
              <a:srgbClr val="F255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60520" y="36576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539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не заменяет профессию целиком,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B539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но забирает часть задач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543800" y="4059936"/>
            <a:ext cx="365760" cy="109728"/>
          </a:xfrm>
          <a:prstGeom prst="rightArrow">
            <a:avLst/>
          </a:prstGeom>
          <a:solidFill>
            <a:srgbClr val="F2552C"/>
          </a:solidFill>
          <a:ln/>
        </p:spPr>
      </p:sp>
      <p:sp>
        <p:nvSpPr>
          <p:cNvPr id="19" name="Shape 17"/>
          <p:cNvSpPr/>
          <p:nvPr/>
        </p:nvSpPr>
        <p:spPr>
          <a:xfrm>
            <a:off x="8046720" y="365760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DEDEA"/>
          </a:solidFill>
          <a:ln w="12700">
            <a:solidFill>
              <a:srgbClr val="F255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0" y="3657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B539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человек с ИИ делают то,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B539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что раньше делали 20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046720" y="3246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F25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работы на всех меньше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что же дальше? Какие подводные?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4480560"/>
          </a:xfrm>
          <a:prstGeom prst="roundRect">
            <a:avLst>
              <a:gd name="adj" fmla="val 2449"/>
            </a:avLst>
          </a:prstGeom>
          <a:solidFill>
            <a:srgbClr val="F7F7F5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691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Интеллект дешевый – опасные возможности тоже.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457200" cy="457200"/>
          </a:xfrm>
          <a:prstGeom prst="ellipse">
            <a:avLst/>
          </a:prstGeom>
          <a:solidFill>
            <a:srgbClr val="F2552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508760" y="2377440"/>
            <a:ext cx="9692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рамках Project Glasswing Mythos 5 нашла более 10 000 уязвимостей высокой или критической тяжести в системно важном программном обеспечении.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F2552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508760" y="3931920"/>
            <a:ext cx="9692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Уже сейчас мощные модели ограничивают в теме биологии и химии – с целью избежать рисков неконтролируемого создания оружия.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что же дальше? Какие подводные?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4572000"/>
          </a:xfrm>
          <a:prstGeom prst="roundRect">
            <a:avLst>
              <a:gd name="adj" fmla="val 2400"/>
            </a:avLst>
          </a:prstGeom>
          <a:solidFill>
            <a:srgbClr val="FDEDE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6916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8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июле 2026 во время внутреннего кибербенчмарка агент должен был найти решение в изолированной среде. Вместо этого он: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68680" y="2606040"/>
            <a:ext cx="292608" cy="292608"/>
          </a:xfrm>
          <a:prstGeom prst="ellipse">
            <a:avLst/>
          </a:prstGeom>
          <a:solidFill>
            <a:srgbClr val="B5391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80160" y="2532888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обнаружил неизвестную zero-day-уязвимость в инфраструктуре тестового стенда;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868680" y="3108960"/>
            <a:ext cx="292608" cy="292608"/>
          </a:xfrm>
          <a:prstGeom prst="ellipse">
            <a:avLst/>
          </a:prstGeom>
          <a:solidFill>
            <a:srgbClr val="B5391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108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80160" y="3035808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использовал её, чтобы получить доступ в открытый интернет;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868680" y="3611880"/>
            <a:ext cx="292608" cy="292608"/>
          </a:xfrm>
          <a:prstGeom prst="ellipse">
            <a:avLst/>
          </a:prstGeom>
          <a:solidFill>
            <a:srgbClr val="B5391F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280160" y="3538728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атаковал реальную инфраструктуру Hugging Face;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868680" y="4114800"/>
            <a:ext cx="292608" cy="292608"/>
          </a:xfrm>
          <a:prstGeom prst="ellipse">
            <a:avLst/>
          </a:prstGeom>
          <a:solidFill>
            <a:srgbClr val="B5391F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114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280160" y="4041648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получил доступ к закрытым данным, чтобы «сжульничать» и найти ответы к тесту.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960" y="47548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i="1" dirty="0">
                <a:solidFill>
                  <a:srgbClr val="8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Инцидент продолжался несколько дней. Hugging Face обнаружила и остановила атаку раньше, чем OpenAI установила, что её источником был собственный агент.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что же дальше? Какие подводные?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еще много нерешенных проблем: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292608" cy="292608"/>
          </a:xfrm>
          <a:prstGeom prst="ellipse">
            <a:avLst/>
          </a:prstGeom>
          <a:solidFill>
            <a:srgbClr val="FFDD2D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20116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Память, опыт и интуиция, </a:t>
            </a:r>
            <a:r>
              <a:rPr lang="en-US" sz="2400" dirty="0" err="1" smtClean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квали</a:t>
            </a:r>
            <a:r>
              <a:rPr lang="ru-RU" sz="2400" dirty="0" err="1" smtClean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фикация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292608" cy="292608"/>
          </a:xfrm>
          <a:prstGeom prst="ellipse">
            <a:avLst/>
          </a:prstGeom>
          <a:solidFill>
            <a:srgbClr val="FFDD2D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6974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Длина контекста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22960" y="3474720"/>
            <a:ext cx="292608" cy="292608"/>
          </a:xfrm>
          <a:prstGeom prst="ellipse">
            <a:avLst/>
          </a:prstGeom>
          <a:solidFill>
            <a:srgbClr val="FFDD2D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3832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Мультимодальность неидеальна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22960" y="4160520"/>
            <a:ext cx="292608" cy="292608"/>
          </a:xfrm>
          <a:prstGeom prst="ellipse">
            <a:avLst/>
          </a:prstGeom>
          <a:solidFill>
            <a:srgbClr val="FFDD2D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40690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все задачи верифицируемы – а как обучать?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92240" y="2103120"/>
            <a:ext cx="292608" cy="292608"/>
          </a:xfrm>
          <a:prstGeom prst="ellipse">
            <a:avLst/>
          </a:prstGeom>
          <a:solidFill>
            <a:srgbClr val="FFDD2D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0" y="20116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Оптимальна ли текущая архитектура?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492240" y="2788920"/>
            <a:ext cx="292608" cy="292608"/>
          </a:xfrm>
          <a:prstGeom prst="ellipse">
            <a:avLst/>
          </a:prstGeom>
          <a:solidFill>
            <a:srgbClr val="FFDD2D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26974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Ответственность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492240" y="3474720"/>
            <a:ext cx="292608" cy="292608"/>
          </a:xfrm>
          <a:prstGeom prst="ellipse">
            <a:avLst/>
          </a:prstGeom>
          <a:solidFill>
            <a:srgbClr val="FFDD2D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0" y="33832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Влияние на человека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1456</Words>
  <Application>Microsoft Office PowerPoint</Application>
  <PresentationFormat>Широкоэкранный</PresentationFormat>
  <Paragraphs>377</Paragraphs>
  <Slides>40</Slides>
  <Notes>40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40</vt:i4>
      </vt:variant>
    </vt:vector>
  </HeadingPairs>
  <TitlesOfParts>
    <vt:vector size="45" baseType="lpstr">
      <vt:lpstr>Arial</vt:lpstr>
      <vt:lpstr>Calibri</vt:lpstr>
      <vt:lpstr>Cambria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8</cp:revision>
  <dcterms:created xsi:type="dcterms:W3CDTF">2026-09-03T07:33:56Z</dcterms:created>
  <dcterms:modified xsi:type="dcterms:W3CDTF">2026-09-07T06:16:59Z</dcterms:modified>
</cp:coreProperties>
</file>